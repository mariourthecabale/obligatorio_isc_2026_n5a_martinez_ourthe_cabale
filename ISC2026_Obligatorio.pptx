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549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Presentarse brevemente.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despliega una app e-commerce PHP en AWS, usando Terraform modular. Alta disponibilidad con 2 AZs y auto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Flujo: Internet → ALB → EC2 (subnets privadas) → RDS. NAT GW por AZ para salida a internet desde subnets privadas.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las EC2 están en subnets privadas. Solo el ALB es público. RDS solo acepta conexiones desde SG-EC2.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SGs encadenados. Principio de mínimo privilegio: RDS solo acepta desde EC2, EC2 solo desde ALB.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ASG: mín 2, máx 4. RDS: MySQL 8.0, db.t3.micro, cifrado, sin acceso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modular: el repositorio raíz orquesta 6 módulos reutilizables. Cada módulo tiene su propio repo en la organización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subnets en 2 AZs. Separación pública / privada APP / privada DB. Un NAT GW por AZ para 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Terraform para IaC, Docker para contenedores, GitLab como registry de imágenes, AWS como proveedor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Resumir logros y abrir espacio a preguntas del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ISC 2026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AWS con Terraform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41148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· Ourthe-Cabalé  —  Grupo N5A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construimos?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527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e-commerce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1618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en contenedor Docker sobre EC2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09160" y="1051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08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2527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577840" y="1618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Availability Zones + Auto Scaling Group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5760" y="28346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con Terraform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3444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código modular, reproducible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709160" y="28346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57784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8.0 administrado y cifrado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182880" y="1005748"/>
            <a:ext cx="8778240" cy="3969904"/>
          </a:xfrm>
          <a:prstGeom prst="roundRect">
            <a:avLst>
              <a:gd name="adj" fmla="val 5455"/>
            </a:avLst>
          </a:prstGeom>
          <a:solidFill>
            <a:srgbClr val="1E3A5F">
              <a:alpha val="65000"/>
            </a:srgbClr>
          </a:solidFill>
          <a:ln w="1905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85734" y="32884"/>
            <a:ext cx="1645920" cy="50292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40954" y="704"/>
            <a:ext cx="72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flipH="1">
            <a:off x="4508694" y="503624"/>
            <a:ext cx="0" cy="349757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56032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0995" y="1468176"/>
            <a:ext cx="3922773" cy="2941027"/>
          </a:xfrm>
          <a:prstGeom prst="roundRect">
            <a:avLst>
              <a:gd name="adj" fmla="val 4167"/>
            </a:avLst>
          </a:prstGeom>
          <a:solidFill>
            <a:srgbClr val="142C4A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0724" y="1459961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  (us-east-1a)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7530" y="1468176"/>
            <a:ext cx="3885554" cy="2946089"/>
          </a:xfrm>
          <a:prstGeom prst="roundRect">
            <a:avLst>
              <a:gd name="adj" fmla="val 4167"/>
            </a:avLst>
          </a:prstGeom>
          <a:solidFill>
            <a:srgbClr val="142C4A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86855" y="145815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  (us-east-1b)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8682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29152" y="1874869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56474" y="187100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223176" y="1871002"/>
            <a:ext cx="11345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5676" y="282760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6479" y="2827602"/>
            <a:ext cx="1012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(Docker)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7316" y="282760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643677" y="2823382"/>
            <a:ext cx="776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(Docker)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57800" y="280790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257800" y="280157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(Docker)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2406" y="2809315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331025" y="2787161"/>
            <a:ext cx="8124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(Docker)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65342" y="368784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608363" y="4525612"/>
            <a:ext cx="1645920" cy="402336"/>
          </a:xfrm>
          <a:prstGeom prst="roundRect">
            <a:avLst>
              <a:gd name="adj" fmla="val 13636"/>
            </a:avLst>
          </a:prstGeom>
          <a:solidFill>
            <a:srgbClr val="00B050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537959" y="3665513"/>
            <a:ext cx="946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333" y="4525612"/>
            <a:ext cx="1002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Backup</a:t>
            </a:r>
            <a:endParaRPr lang="en-US" sz="9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E8CBBA7F-2BAD-3A5A-9542-7D49275383E5}"/>
              </a:ext>
            </a:extLst>
          </p:cNvPr>
          <p:cNvSpPr/>
          <p:nvPr/>
        </p:nvSpPr>
        <p:spPr>
          <a:xfrm>
            <a:off x="1191651" y="367887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D6315A85-F61F-651E-401C-8269386490AF}"/>
              </a:ext>
            </a:extLst>
          </p:cNvPr>
          <p:cNvSpPr/>
          <p:nvPr/>
        </p:nvSpPr>
        <p:spPr>
          <a:xfrm>
            <a:off x="1564268" y="3665513"/>
            <a:ext cx="9460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26200" y="1804533"/>
            <a:ext cx="760655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206887" y="1890346"/>
            <a:ext cx="591342" cy="40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200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70F2DFB-314C-E2FB-ACC3-C915A404A2F1}"/>
              </a:ext>
            </a:extLst>
          </p:cNvPr>
          <p:cNvSpPr/>
          <p:nvPr/>
        </p:nvSpPr>
        <p:spPr>
          <a:xfrm>
            <a:off x="380724" y="1769097"/>
            <a:ext cx="8243668" cy="665754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D9EBB22-949E-4206-C31C-B192ADFB16F8}"/>
              </a:ext>
            </a:extLst>
          </p:cNvPr>
          <p:cNvSpPr/>
          <p:nvPr/>
        </p:nvSpPr>
        <p:spPr>
          <a:xfrm>
            <a:off x="365760" y="2740558"/>
            <a:ext cx="8225116" cy="665754"/>
          </a:xfrm>
          <a:prstGeom prst="rect">
            <a:avLst/>
          </a:prstGeom>
          <a:noFill/>
          <a:ln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5AD9484-8395-EB7B-EDB3-121B32376D55}"/>
              </a:ext>
            </a:extLst>
          </p:cNvPr>
          <p:cNvSpPr/>
          <p:nvPr/>
        </p:nvSpPr>
        <p:spPr>
          <a:xfrm>
            <a:off x="398262" y="3571634"/>
            <a:ext cx="8243668" cy="66575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91BA9353-2FAD-E0D0-4817-8A577F3B80C0}"/>
              </a:ext>
            </a:extLst>
          </p:cNvPr>
          <p:cNvSpPr/>
          <p:nvPr/>
        </p:nvSpPr>
        <p:spPr>
          <a:xfrm>
            <a:off x="4033891" y="667726"/>
            <a:ext cx="935538" cy="665754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s-E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14BFCB2-D046-A58D-B85E-986FEA7CB5C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24557" y="2591229"/>
            <a:ext cx="1511719" cy="2236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5444819B-61A2-B0B8-0490-1E99DD1AD3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91138" y="2591611"/>
            <a:ext cx="3187180" cy="2381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36AAB530-B013-A821-33A5-256256AFCA3E}"/>
              </a:ext>
            </a:extLst>
          </p:cNvPr>
          <p:cNvCxnSpPr>
            <a:cxnSpLocks/>
          </p:cNvCxnSpPr>
          <p:nvPr/>
        </p:nvCxnSpPr>
        <p:spPr>
          <a:xfrm>
            <a:off x="4547220" y="2591706"/>
            <a:ext cx="1498767" cy="2104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D9A7D147-2F49-B4C8-A2E7-B724AF963769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rot="16200000" flipH="1">
            <a:off x="5894160" y="983829"/>
            <a:ext cx="437854" cy="32131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0BA7A28D-146E-C321-D224-3402BB10F089}"/>
              </a:ext>
            </a:extLst>
          </p:cNvPr>
          <p:cNvCxnSpPr>
            <a:cxnSpLocks/>
            <a:stCxn id="45" idx="4"/>
            <a:endCxn id="6" idx="0"/>
          </p:cNvCxnSpPr>
          <p:nvPr/>
        </p:nvCxnSpPr>
        <p:spPr>
          <a:xfrm>
            <a:off x="4501660" y="1333480"/>
            <a:ext cx="4868" cy="471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66">
            <a:extLst>
              <a:ext uri="{FF2B5EF4-FFF2-40B4-BE49-F238E27FC236}">
                <a16:creationId xmlns:a16="http://schemas.microsoft.com/office/drawing/2014/main" id="{743879D0-B01C-2448-00E3-297D22CC2470}"/>
              </a:ext>
            </a:extLst>
          </p:cNvPr>
          <p:cNvCxnSpPr>
            <a:stCxn id="42" idx="2"/>
            <a:endCxn id="37" idx="3"/>
          </p:cNvCxnSpPr>
          <p:nvPr/>
        </p:nvCxnSpPr>
        <p:spPr>
          <a:xfrm rot="5400000">
            <a:off x="3466798" y="2868526"/>
            <a:ext cx="473734" cy="1549307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6D5E581F-E004-3E1D-0B26-EFC26333410D}"/>
              </a:ext>
            </a:extLst>
          </p:cNvPr>
          <p:cNvCxnSpPr>
            <a:stCxn id="16" idx="0"/>
            <a:endCxn id="45" idx="2"/>
          </p:cNvCxnSpPr>
          <p:nvPr/>
        </p:nvCxnSpPr>
        <p:spPr>
          <a:xfrm flipV="1">
            <a:off x="1234440" y="1000603"/>
            <a:ext cx="2799451" cy="886225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D93E5FC2-D78E-AE14-9C70-2F6C7C543FB5}"/>
              </a:ext>
            </a:extLst>
          </p:cNvPr>
          <p:cNvCxnSpPr>
            <a:cxnSpLocks/>
            <a:stCxn id="45" idx="6"/>
            <a:endCxn id="18" idx="0"/>
          </p:cNvCxnSpPr>
          <p:nvPr/>
        </p:nvCxnSpPr>
        <p:spPr>
          <a:xfrm>
            <a:off x="4969429" y="1000603"/>
            <a:ext cx="2764285" cy="870399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8A24C340-0118-FCFE-BD58-DF5DC9B5EED1}"/>
              </a:ext>
            </a:extLst>
          </p:cNvPr>
          <p:cNvCxnSpPr/>
          <p:nvPr/>
        </p:nvCxnSpPr>
        <p:spPr>
          <a:xfrm flipV="1">
            <a:off x="896112" y="2289164"/>
            <a:ext cx="0" cy="451394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593593EC-9A26-5451-01A2-804C1BCDB879}"/>
              </a:ext>
            </a:extLst>
          </p:cNvPr>
          <p:cNvCxnSpPr>
            <a:cxnSpLocks/>
          </p:cNvCxnSpPr>
          <p:nvPr/>
        </p:nvCxnSpPr>
        <p:spPr>
          <a:xfrm flipV="1">
            <a:off x="8061256" y="2273338"/>
            <a:ext cx="0" cy="524109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tráfico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005840"/>
            <a:ext cx="822960" cy="8229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48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HTTP :80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23160" y="2880360"/>
            <a:ext cx="3657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06624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71800" y="100584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97180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468880" y="19659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08483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6032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 + Health check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26280" y="2880360"/>
            <a:ext cx="3657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4809744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74920" y="100584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50749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572000" y="19659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08483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66344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app PHP :80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29400" y="2880360"/>
            <a:ext cx="3657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6912864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178040" y="100584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71780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6675120" y="196596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084832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76656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:3306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instancias EC2 solo son alcanzables desde el ALB — no tienen IP pública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Firewalling — Security Groups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265176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SG-ALB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INGRESS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:80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saliente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63240" y="2221992"/>
            <a:ext cx="457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200400" y="1280160"/>
            <a:ext cx="265176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SG-EC2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64992" y="1600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INGRESS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desde SG-ALB → :80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saliente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0" y="2221992"/>
            <a:ext cx="457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61264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35040" y="100584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03504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035040" y="1280160"/>
            <a:ext cx="2651760" cy="228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SG-RDS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99632" y="1600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INGRESS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desde SG-EC2 → :3306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EGRESS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saliente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Internet → [SG-ALB] → ALB → [SG-EC2] → EC2 → [SG-RDS] → 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y Base de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68880" y="1783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instancias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30552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48640" y="2130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68880" y="2130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instancias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478024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4864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468880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instancias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2549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4864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68880" y="2825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72968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4864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instancia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468880" y="31729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48640" y="3520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46888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Docker + app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867912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548640" y="3867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app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468880" y="3867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registry.gitlab.com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21538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548640" y="4215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468880" y="42153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Privadas APP (2 AZs)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54880" y="914400"/>
            <a:ext cx="402336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51560"/>
            <a:ext cx="640080" cy="6400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8064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4846320" y="1783080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0"/>
          <p:cNvSpPr/>
          <p:nvPr/>
        </p:nvSpPr>
        <p:spPr>
          <a:xfrm>
            <a:off x="4937760" y="17830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846320" y="2130552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3"/>
          <p:cNvSpPr/>
          <p:nvPr/>
        </p:nvSpPr>
        <p:spPr>
          <a:xfrm>
            <a:off x="4937760" y="2130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812280" y="2130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846320" y="2478024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6"/>
          <p:cNvSpPr/>
          <p:nvPr/>
        </p:nvSpPr>
        <p:spPr>
          <a:xfrm>
            <a:off x="493776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812280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 → 100 GB (gp3)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846320" y="282549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39"/>
          <p:cNvSpPr/>
          <p:nvPr/>
        </p:nvSpPr>
        <p:spPr>
          <a:xfrm>
            <a:off x="4937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812280" y="2825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(en reposo)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4846320" y="3172968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2"/>
          <p:cNvSpPr/>
          <p:nvPr/>
        </p:nvSpPr>
        <p:spPr>
          <a:xfrm>
            <a:off x="493776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público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812280" y="31729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846320" y="3520440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5"/>
          <p:cNvSpPr/>
          <p:nvPr/>
        </p:nvSpPr>
        <p:spPr>
          <a:xfrm>
            <a:off x="4937760" y="3520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81228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4846320" y="3867912"/>
            <a:ext cx="3840480" cy="32918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8"/>
          <p:cNvSpPr/>
          <p:nvPr/>
        </p:nvSpPr>
        <p:spPr>
          <a:xfrm>
            <a:off x="4937760" y="3867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6812280" y="3867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días automáticos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4846320" y="4215384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1"/>
          <p:cNvSpPr/>
          <p:nvPr/>
        </p:nvSpPr>
        <p:spPr>
          <a:xfrm>
            <a:off x="4937760" y="4215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inicial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6812280" y="42153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Terraform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0" y="96012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108960" y="960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Raíz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64592" cy="9144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30352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module-networking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377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Subnets · IGW · NAT GW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164592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30352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module-security-groups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SG-ALB · SG-EC2 · SG-RDS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164592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02152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module-alb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2152" y="2377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· Target Group · Listener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502152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module-asg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· ASG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217920" y="1920240"/>
            <a:ext cx="164592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473952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73952" y="2377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· Subnet Group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217920" y="3063240"/>
            <a:ext cx="164592" cy="9144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473952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storage-backup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73952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backups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github.com/ISC-2026-Martinez-Ourthe-Cabale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VPC y Subnets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987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987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9875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417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NAT GW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1801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01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801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NAT GW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85416"/>
            <a:ext cx="8229600" cy="384048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21854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 APP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1854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21854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185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EC2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6946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5694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 APP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2569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569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5694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EC2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953512"/>
            <a:ext cx="8229600" cy="384048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02920" y="29535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 DB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2953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2953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9535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02920" y="3337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 DB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0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337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CIDRs definidos vía terraform.tfvars al momento del despliegue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170432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modular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83280" y="10058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17043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10058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170432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35508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28803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044952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43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9436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383280" y="28803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1688" y="3044952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472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47472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63640" y="28803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048" y="304495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5508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5508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instancias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42A5F5">
              <a:alpha val="15000"/>
            </a:srgbClr>
          </a:solidFill>
          <a:ln w="12700">
            <a:solidFill>
              <a:srgbClr val="42A5F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del proyecto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75488" cy="475488"/>
          </a:xfrm>
          <a:prstGeom prst="ellipse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08813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segura con separación de capas y mínimo privilegio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01368"/>
            <a:ext cx="475488" cy="475488"/>
          </a:xfrm>
          <a:prstGeom prst="ellipse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837944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01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disponibilidad: 2 AZs + Auto Scaling Group (mín 2, máx 4)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11480" y="2551176"/>
            <a:ext cx="475488" cy="475488"/>
          </a:xfrm>
          <a:prstGeom prst="ellipse">
            <a:avLst/>
          </a:prstGeom>
          <a:solidFill>
            <a:srgbClr val="0277BD">
              <a:alpha val="8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5877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5511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IaC: reproducible, versionado y modular con Terraform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11480" y="3300984"/>
            <a:ext cx="475488" cy="475488"/>
          </a:xfrm>
          <a:prstGeom prst="ellipse">
            <a:avLst/>
          </a:prstGeom>
          <a:solidFill>
            <a:srgbClr val="F57C00">
              <a:alpha val="80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337560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3009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containerizada con deploy automático desde GitLab Registry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11480" y="4050792"/>
            <a:ext cx="475488" cy="475488"/>
          </a:xfrm>
          <a:prstGeom prst="ellipse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4087368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0507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gestionado con cifrado, backups y autoscaling de storage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— Martínez · Ourthe · Cabalé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709</Words>
  <Application>Microsoft Office PowerPoint</Application>
  <PresentationFormat>Presentación en pantalla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 Andres Ourthe-Cabale  Diaz</cp:lastModifiedBy>
  <cp:revision>4</cp:revision>
  <dcterms:created xsi:type="dcterms:W3CDTF">2026-06-28T16:42:04Z</dcterms:created>
  <dcterms:modified xsi:type="dcterms:W3CDTF">2026-06-28T17:24:28Z</dcterms:modified>
</cp:coreProperties>
</file>